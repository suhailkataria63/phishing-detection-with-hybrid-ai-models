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Rounds Condensed" charset="1" panose="02000506030000020003"/>
      <p:regular r:id="rId19"/>
    </p:embeddedFon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8615" y="92869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647950"/>
            <a:ext cx="13716000" cy="2849880"/>
            <a:chOff x="0" y="0"/>
            <a:chExt cx="18288000" cy="3799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3799841"/>
            </a:xfrm>
            <a:custGeom>
              <a:avLst/>
              <a:gdLst/>
              <a:ahLst/>
              <a:cxnLst/>
              <a:rect r="r" b="b" t="t" l="l"/>
              <a:pathLst>
                <a:path h="3799841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3799841"/>
                  </a:lnTo>
                  <a:lnTo>
                    <a:pt x="0" y="37998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295" r="0" b="-342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18288000" cy="374269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6000" spc="-36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 Presentation on</a:t>
              </a:r>
            </a:p>
            <a:p>
              <a:pPr algn="ctr">
                <a:lnSpc>
                  <a:spcPts val="6480"/>
                </a:lnSpc>
              </a:pPr>
              <a:r>
                <a:rPr lang="en-US" sz="6000" spc="-36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“Advanced Phishing Detection Using Hybrid A.I. Models”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77440" y="6201251"/>
            <a:ext cx="14653260" cy="186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Submitted To:						Submitted by:</a:t>
            </a:r>
          </a:p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Ms. Nidhi Bhatla					Suhail Kataria(2417163), Arpita Choudhary(2320457), </a:t>
            </a:r>
          </a:p>
          <a:p>
            <a:pPr algn="l">
              <a:lnSpc>
                <a:spcPts val="3564"/>
              </a:lnSpc>
            </a:pPr>
            <a:r>
              <a:rPr lang="en-US" sz="3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          Rimjhim Sharma(2320487).</a:t>
            </a:r>
          </a:p>
          <a:p>
            <a:pPr algn="l">
              <a:lnSpc>
                <a:spcPts val="3564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7144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Abstract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48740" y="1985963"/>
            <a:ext cx="15590520" cy="644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Phishing attacks are a major cybersecurity threat that exploit both email content and malicious URLs. Traditional detection methods often fail in real-world scenarios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due to their reliance on a single type of analysis.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project proposes a hybrid phishing detection system that combines machine learning with rule-based intelligence to improve detection accuracy and robustness.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Approach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Transformer-based email analysis (DistilBERT)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URL structure and pattern analysis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oint decision using combined signals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Features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Multi-m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ode detection: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SOC (high recall)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Balanced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High-confidence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Explainable results for each prediction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analysis support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Improved cross-domain detection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false positives and false negatives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Achieved ~90%+ accuracy on evaluation dataset</a:t>
            </a: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28315" y="3626219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0" y="0"/>
                </a:lnTo>
                <a:lnTo>
                  <a:pt x="240850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8315" y="4970277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0" y="0"/>
                </a:lnTo>
                <a:lnTo>
                  <a:pt x="240850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28315" y="7065620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0" y="0"/>
                </a:lnTo>
                <a:lnTo>
                  <a:pt x="240850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730671" y="3867069"/>
            <a:ext cx="7024208" cy="4109571"/>
          </a:xfrm>
          <a:custGeom>
            <a:avLst/>
            <a:gdLst/>
            <a:ahLst/>
            <a:cxnLst/>
            <a:rect r="r" b="b" t="t" l="l"/>
            <a:pathLst>
              <a:path h="4109571" w="7024208">
                <a:moveTo>
                  <a:pt x="0" y="0"/>
                </a:moveTo>
                <a:lnTo>
                  <a:pt x="7024207" y="0"/>
                </a:lnTo>
                <a:lnTo>
                  <a:pt x="7024207" y="4109572"/>
                </a:lnTo>
                <a:lnTo>
                  <a:pt x="0" y="410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902" t="-24747" r="-20533" b="-38696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7144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48740" y="2360295"/>
            <a:ext cx="15590520" cy="53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Phishing is one of the most common cyber attacks used to steal sensitive information through fake emails and malicious links.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detection systems: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rely on either email or URL analysis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fail in cross-domain scenarios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Problem: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Attackers combine multiple techniques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Single-model detection is not reliable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High false positives and false negatives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 email + URL analysis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hybrid detection approach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Apply rule-assisted decision logic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Motivation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Increase detection accuracy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 real-world applicability</a:t>
            </a:r>
          </a:p>
          <a:p>
            <a:pPr algn="l" marL="863601" indent="-287867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explainable results for users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0787" y="2923545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0787" y="3959064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0787" y="5308936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0787" y="6654687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539435" y="3114979"/>
            <a:ext cx="7304425" cy="4869617"/>
          </a:xfrm>
          <a:custGeom>
            <a:avLst/>
            <a:gdLst/>
            <a:ahLst/>
            <a:cxnLst/>
            <a:rect r="r" b="b" t="t" l="l"/>
            <a:pathLst>
              <a:path h="4869617" w="7304425">
                <a:moveTo>
                  <a:pt x="0" y="0"/>
                </a:moveTo>
                <a:lnTo>
                  <a:pt x="7304425" y="0"/>
                </a:lnTo>
                <a:lnTo>
                  <a:pt x="7304425" y="4869616"/>
                </a:lnTo>
                <a:lnTo>
                  <a:pt x="0" y="48696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7144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of Project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 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99876" y="2809746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99876" y="3903590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899876" y="4958586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899876" y="6009062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14853" y="2500545"/>
            <a:ext cx="7374122" cy="4916081"/>
          </a:xfrm>
          <a:custGeom>
            <a:avLst/>
            <a:gdLst/>
            <a:ahLst/>
            <a:cxnLst/>
            <a:rect r="r" b="b" t="t" l="l"/>
            <a:pathLst>
              <a:path h="4916081" w="7374122">
                <a:moveTo>
                  <a:pt x="0" y="0"/>
                </a:moveTo>
                <a:lnTo>
                  <a:pt x="7374122" y="0"/>
                </a:lnTo>
                <a:lnTo>
                  <a:pt x="7374122" y="4916082"/>
                </a:lnTo>
                <a:lnTo>
                  <a:pt x="0" y="4916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140727" y="2985135"/>
            <a:ext cx="15590520" cy="430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Primary Objective: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a robust phishing detection system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 detection accuracy in real-world scenarios</a:t>
            </a: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Objectives: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transformer-based model for email analysis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 URL structure and patterns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Objectives: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 email and URL signals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rule-assisted decision logic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Objectives: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clear and explainable results</a:t>
            </a:r>
          </a:p>
          <a:p>
            <a:pPr algn="l" marL="863611" indent="-287870" lvl="2">
              <a:lnSpc>
                <a:spcPts val="2160"/>
              </a:lnSpc>
              <a:buFont typeface="Arial"/>
              <a:buChar char="⚬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 batch analysis for multiple inputs</a:t>
            </a:r>
          </a:p>
          <a:p>
            <a:pPr algn="l" marL="361955" indent="-180977" lvl="1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0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Methodology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697480" y="1750695"/>
            <a:ext cx="15590520" cy="750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1 — Data Processing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 email content (subject + body)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 URLs from input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and prepare data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2 — Email Detection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DistilBER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 transformer model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Capture contextual phishing patterns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email risk score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3 — URL Detection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Analyze domain structure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Detect suspicious keywords &amp; patterns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Generate URL risk score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4 — Joint Detection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 email + URL scores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Apply rule-based logic: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trusted domain validation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brand mismatch detection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suspicious signal escalation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Step 5 — Final Decision: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Apply threshold-based classification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Output: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Safe / Suspicious / Phishing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Explanation + confidence score</a:t>
            </a:r>
          </a:p>
          <a:p>
            <a:pPr algn="l" marL="361955" indent="-180977" lvl="1">
              <a:lnSpc>
                <a:spcPts val="216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 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65189" y="1762709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365189" y="3098934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365189" y="4435160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377440" y="5771385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377440" y="7629329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80805" y="1880645"/>
            <a:ext cx="8004252" cy="6716860"/>
          </a:xfrm>
          <a:custGeom>
            <a:avLst/>
            <a:gdLst/>
            <a:ahLst/>
            <a:cxnLst/>
            <a:rect r="r" b="b" t="t" l="l"/>
            <a:pathLst>
              <a:path h="6716860" w="8004252">
                <a:moveTo>
                  <a:pt x="0" y="0"/>
                </a:moveTo>
                <a:lnTo>
                  <a:pt x="8004252" y="0"/>
                </a:lnTo>
                <a:lnTo>
                  <a:pt x="8004252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874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144167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037144" y="2451735"/>
            <a:ext cx="15590520" cy="53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 Stack: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Frontend: Next.js + Tailwind CSS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Backend: FastAPI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ML Model: DistilBERT (Email Detection)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Modules: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 Detection Module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URL Analysis Engine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Joint Detection System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Features Implemented: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Transformer-based email classification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URL structure &amp; pattern analysis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Rule-assisted joint scoring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Advanced Features: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Threshold-based detection modes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Batch CSV analysis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Explainable output (reason-based results)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717104" y="2461260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704853" y="3797749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717104" y="5143500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717104" y="6489251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517031" y="2132511"/>
            <a:ext cx="7093293" cy="6021978"/>
          </a:xfrm>
          <a:custGeom>
            <a:avLst/>
            <a:gdLst/>
            <a:ahLst/>
            <a:cxnLst/>
            <a:rect r="r" b="b" t="t" l="l"/>
            <a:pathLst>
              <a:path h="6021978" w="7093293">
                <a:moveTo>
                  <a:pt x="0" y="0"/>
                </a:moveTo>
                <a:lnTo>
                  <a:pt x="7093293" y="0"/>
                </a:lnTo>
                <a:lnTo>
                  <a:pt x="7093293" y="6021978"/>
                </a:lnTo>
                <a:lnTo>
                  <a:pt x="0" y="60219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7345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114312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Discussion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63910" y="2718435"/>
            <a:ext cx="15590520" cy="484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Performance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 m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odel → high recall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UR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 model → high precision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Joint Model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</a:t>
            </a:r>
            <a:r>
              <a:rPr lang="en-US" b="true" sz="2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~90–94%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F1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Score: </a:t>
            </a:r>
            <a:r>
              <a:rPr lang="en-US" b="true" sz="2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~0.94–0.95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Improvements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 cross-domain detection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false positives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Reduced false negatives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Observations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Hybri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 approach outperforms single models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Threshold tuning improves performance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le-based logic enhances reliability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143870" y="2727960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43870" y="3801985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143870" y="4876010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43870" y="6223822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490282" y="2102656"/>
            <a:ext cx="9042616" cy="6028410"/>
          </a:xfrm>
          <a:custGeom>
            <a:avLst/>
            <a:gdLst/>
            <a:ahLst/>
            <a:cxnLst/>
            <a:rect r="r" b="b" t="t" l="l"/>
            <a:pathLst>
              <a:path h="6028410" w="9042616">
                <a:moveTo>
                  <a:pt x="0" y="0"/>
                </a:moveTo>
                <a:lnTo>
                  <a:pt x="9042616" y="0"/>
                </a:lnTo>
                <a:lnTo>
                  <a:pt x="9042616" y="6028410"/>
                </a:lnTo>
                <a:lnTo>
                  <a:pt x="0" y="6028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270316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024639" y="2839542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024639" y="3918857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024639" y="4988382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024639" y="6053911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039670" y="2258660"/>
            <a:ext cx="7749640" cy="5166426"/>
          </a:xfrm>
          <a:custGeom>
            <a:avLst/>
            <a:gdLst/>
            <a:ahLst/>
            <a:cxnLst/>
            <a:rect r="r" b="b" t="t" l="l"/>
            <a:pathLst>
              <a:path h="5166426" w="7749640">
                <a:moveTo>
                  <a:pt x="0" y="0"/>
                </a:moveTo>
                <a:lnTo>
                  <a:pt x="7749640" y="0"/>
                </a:lnTo>
                <a:lnTo>
                  <a:pt x="7749640" y="5166427"/>
                </a:lnTo>
                <a:lnTo>
                  <a:pt x="0" y="51664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44679" y="2830017"/>
            <a:ext cx="15590520" cy="430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Imp</a:t>
            </a: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rovements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 larger real-world datasets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zero-day phishing detection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Enhancements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detection system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egration with threat intelligence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rowser extension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 client integration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 &amp; User Experience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Advanced dashboard for analysts</a:t>
            </a:r>
          </a:p>
          <a:p>
            <a:pPr algn="l" marL="431801" indent="-215900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</a:t>
            </a: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proved visualization and reporting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57300" y="7144"/>
            <a:ext cx="15773400" cy="1988344"/>
            <a:chOff x="0" y="0"/>
            <a:chExt cx="21031200" cy="26511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031200" cy="267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84"/>
                </a:lnSpc>
              </a:pPr>
              <a:r>
                <a:rPr lang="en-US" sz="48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28784" y="2318385"/>
            <a:ext cx="15590520" cy="564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Datasets Used: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Enron Email Dataset (Klimt &amp; Yang, 2004)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SpamAssassin Public Corpus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Nazario Phishing Corpus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Benign URLs: Top-1M Dataset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Phishing URLs: PhishTank Dataset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Research Papers: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Devlin et al., BERT: Language Understanding, 2019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Sanh et al., DistilBERT Model, 2019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Metsis et al., Naive Bayes Spam Filtering, 2006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Fawcett, ROC Analysis, 2006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Pedregosa et al., Scikit-learn, JMLR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20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Related Work: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AI-Based Phishing Detection Techniques (ResearchGate)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Role of AI in Phishing Detection (Zenodo)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Hybrid ML Model for Phishing Detection (IEEE)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Phishing Detection using URL Analysis (IEEE Access)</a:t>
            </a:r>
          </a:p>
          <a:p>
            <a:pPr algn="l" marL="361955" indent="-180977" lvl="1">
              <a:lnSpc>
                <a:spcPts val="216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Review of AI-Based Phishing Models (IEEE OJ-COMS)</a:t>
            </a:r>
          </a:p>
          <a:p>
            <a:pPr algn="l" marL="361955" indent="-180977" lvl="1">
              <a:lnSpc>
                <a:spcPts val="216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996494" y="2338261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0" y="0"/>
                </a:lnTo>
                <a:lnTo>
                  <a:pt x="240850" y="240851"/>
                </a:lnTo>
                <a:lnTo>
                  <a:pt x="0" y="2408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08744" y="4198362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008744" y="6059021"/>
            <a:ext cx="240851" cy="240851"/>
          </a:xfrm>
          <a:custGeom>
            <a:avLst/>
            <a:gdLst/>
            <a:ahLst/>
            <a:cxnLst/>
            <a:rect r="r" b="b" t="t" l="l"/>
            <a:pathLst>
              <a:path h="240851" w="240851">
                <a:moveTo>
                  <a:pt x="0" y="0"/>
                </a:moveTo>
                <a:lnTo>
                  <a:pt x="240851" y="0"/>
                </a:lnTo>
                <a:lnTo>
                  <a:pt x="240851" y="240850"/>
                </a:lnTo>
                <a:lnTo>
                  <a:pt x="0" y="24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2579112"/>
            <a:ext cx="6374743" cy="4763481"/>
          </a:xfrm>
          <a:custGeom>
            <a:avLst/>
            <a:gdLst/>
            <a:ahLst/>
            <a:cxnLst/>
            <a:rect r="r" b="b" t="t" l="l"/>
            <a:pathLst>
              <a:path h="4763481" w="6374743">
                <a:moveTo>
                  <a:pt x="0" y="0"/>
                </a:moveTo>
                <a:lnTo>
                  <a:pt x="6374743" y="0"/>
                </a:lnTo>
                <a:lnTo>
                  <a:pt x="6374743" y="4763481"/>
                </a:lnTo>
                <a:lnTo>
                  <a:pt x="0" y="47634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051" t="-2812" r="-13935" b="-10481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40481"/>
            <a:ext cx="3286125" cy="1014412"/>
            <a:chOff x="0" y="0"/>
            <a:chExt cx="4381500" cy="135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8150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1352550"/>
                  </a:lnTo>
                  <a:lnTo>
                    <a:pt x="0" y="1352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48740" y="4846320"/>
            <a:ext cx="15590520" cy="187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43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  <a:p>
            <a:pPr algn="ctr">
              <a:lnSpc>
                <a:spcPts val="4698"/>
              </a:lnSpc>
            </a:pPr>
            <a:r>
              <a:rPr lang="en-US" sz="435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Queries?</a:t>
            </a:r>
          </a:p>
          <a:p>
            <a:pPr algn="l">
              <a:lnSpc>
                <a:spcPts val="469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57900" y="9534525"/>
            <a:ext cx="6172200" cy="547688"/>
            <a:chOff x="0" y="0"/>
            <a:chExt cx="822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Engineering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DAHHZtCeKyQ</dc:identifier>
  <dcterms:modified xsi:type="dcterms:W3CDTF">2011-08-01T06:04:30Z</dcterms:modified>
  <cp:revision>1</cp:revision>
  <dc:title>COE_6TH SEM PROJEC-1 PRESENTATION.pptx</dc:title>
</cp:coreProperties>
</file>